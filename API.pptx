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6" r:id="rId3"/>
  </p:sldMasterIdLst>
  <p:notesMasterIdLst>
    <p:notesMasterId r:id="rId16"/>
  </p:notesMasterIdLst>
  <p:sldIdLst>
    <p:sldId id="256" r:id="rId4"/>
    <p:sldId id="261" r:id="rId5"/>
    <p:sldId id="409" r:id="rId6"/>
    <p:sldId id="264" r:id="rId7"/>
    <p:sldId id="280" r:id="rId8"/>
    <p:sldId id="328" r:id="rId9"/>
    <p:sldId id="407" r:id="rId10"/>
    <p:sldId id="403" r:id="rId11"/>
    <p:sldId id="329" r:id="rId12"/>
    <p:sldId id="330" r:id="rId13"/>
    <p:sldId id="405" r:id="rId14"/>
    <p:sldId id="262" r:id="rId1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7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3E9"/>
    <a:srgbClr val="DA9997"/>
    <a:srgbClr val="99DABA"/>
    <a:srgbClr val="98DFBB"/>
    <a:srgbClr val="F8B2A3"/>
    <a:srgbClr val="A4B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2" d="100"/>
          <a:sy n="122" d="100"/>
        </p:scale>
        <p:origin x="-474" y="-72"/>
      </p:cViewPr>
      <p:guideLst>
        <p:guide orient="horz" pos="197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4780-4742-4AF7-B9F6-29387D06C872}" type="datetimeFigureOut">
              <a:rPr lang="ko-KR" altLang="en-US" smtClean="0"/>
              <a:t>2021-03-28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0E160-F603-41F3-A192-DC959577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08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23928" y="2643759"/>
            <a:ext cx="5220072" cy="10801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sz="3600" dirty="0">
                <a:ea typeface="Malgun Gothic" panose="020B0503020000020004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23928" y="3723878"/>
            <a:ext cx="52199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3800" y="2230378"/>
            <a:ext cx="49302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13800" y="2703954"/>
            <a:ext cx="49302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3651870"/>
            <a:ext cx="1013895" cy="101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50740"/>
            <a:ext cx="648072" cy="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9818"/>
            <a:ext cx="442142" cy="4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779200"/>
            <a:ext cx="360040" cy="36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1115616" y="1275607"/>
            <a:ext cx="2585656" cy="2592286"/>
            <a:chOff x="1115616" y="1275607"/>
            <a:chExt cx="2585656" cy="2592286"/>
          </a:xfrm>
        </p:grpSpPr>
        <p:pic>
          <p:nvPicPr>
            <p:cNvPr id="1026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578808"/>
            <a:ext cx="1475656" cy="159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26854" y="-51527"/>
            <a:ext cx="879830" cy="9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45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43808" y="377122"/>
            <a:ext cx="3456384" cy="3465247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829098" y="3829794"/>
            <a:ext cx="3456384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Welcome!!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828950" y="4443958"/>
            <a:ext cx="345638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63568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842131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34733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27011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Block Arc 1"/>
          <p:cNvSpPr/>
          <p:nvPr userDrawn="1"/>
        </p:nvSpPr>
        <p:spPr>
          <a:xfrm>
            <a:off x="683568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11"/>
          <p:cNvSpPr/>
          <p:nvPr userDrawn="1"/>
        </p:nvSpPr>
        <p:spPr>
          <a:xfrm>
            <a:off x="2671382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Block Arc 12"/>
          <p:cNvSpPr/>
          <p:nvPr userDrawn="1"/>
        </p:nvSpPr>
        <p:spPr>
          <a:xfrm>
            <a:off x="4659196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 userDrawn="1"/>
        </p:nvSpPr>
        <p:spPr>
          <a:xfrm>
            <a:off x="6647011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2787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771800" y="1404764"/>
            <a:ext cx="6372200" cy="30243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3059832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84000" y="2947500"/>
            <a:ext cx="3060000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28392" y="0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1923678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7858" y="1275606"/>
            <a:ext cx="2448545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39542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60954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8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582656" y="1374406"/>
            <a:ext cx="2700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820964" y="1374406"/>
            <a:ext cx="2736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3"/>
          <p:cNvSpPr/>
          <p:nvPr userDrawn="1"/>
        </p:nvSpPr>
        <p:spPr>
          <a:xfrm>
            <a:off x="2847111" y="1179745"/>
            <a:ext cx="3401564" cy="3401564"/>
          </a:xfrm>
          <a:prstGeom prst="donut">
            <a:avLst>
              <a:gd name="adj" fmla="val 13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6714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46378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546378" y="2217207"/>
            <a:ext cx="1944000" cy="5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546042" y="4085904"/>
            <a:ext cx="1944000" cy="5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2583307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82971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582971" y="2217207"/>
            <a:ext cx="1944000" cy="5309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2582635" y="4085904"/>
            <a:ext cx="1944000" cy="5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19900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619564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4619564" y="2217207"/>
            <a:ext cx="1944000" cy="5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4619228" y="4085904"/>
            <a:ext cx="1944000" cy="5309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656494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6656158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6656158" y="2217207"/>
            <a:ext cx="1944000" cy="5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6655822" y="4085904"/>
            <a:ext cx="1944000" cy="5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3800" y="2230378"/>
            <a:ext cx="49302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13800" y="2703954"/>
            <a:ext cx="49302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3651870"/>
            <a:ext cx="1013895" cy="101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50740"/>
            <a:ext cx="648072" cy="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9818"/>
            <a:ext cx="442142" cy="4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779200"/>
            <a:ext cx="360040" cy="36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1115616" y="1275607"/>
            <a:ext cx="2585656" cy="2592286"/>
            <a:chOff x="1115616" y="1275607"/>
            <a:chExt cx="2585656" cy="2592286"/>
          </a:xfrm>
        </p:grpSpPr>
        <p:pic>
          <p:nvPicPr>
            <p:cNvPr id="1026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578808"/>
            <a:ext cx="1475656" cy="159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26854" y="-51527"/>
            <a:ext cx="879830" cy="9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8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75593" y="1347724"/>
            <a:ext cx="5220072" cy="1080120"/>
          </a:xfrm>
        </p:spPr>
        <p:txBody>
          <a:bodyPr/>
          <a:lstStyle/>
          <a:p>
            <a:pPr lvl="0"/>
            <a:r>
              <a:rPr lang="en-US" altLang="ko-KR" dirty="0">
                <a:ea typeface="Malgun Gothic" panose="020B0503020000020004" pitchFamily="50" charset="-127"/>
              </a:rPr>
              <a:t>ỨNG DỤNG WEB SỬ </a:t>
            </a:r>
          </a:p>
          <a:p>
            <a:pPr lvl="0"/>
            <a:r>
              <a:rPr lang="en-US" altLang="ko-KR" dirty="0">
                <a:ea typeface="Malgun Gothic" panose="020B0503020000020004" pitchFamily="50" charset="-127"/>
              </a:rPr>
              <a:t>DỤNG YOUTUBE API</a:t>
            </a:r>
            <a:endParaRPr lang="en-US" altLang="ko-KR" dirty="0"/>
          </a:p>
        </p:txBody>
      </p:sp>
      <p:grpSp>
        <p:nvGrpSpPr>
          <p:cNvPr id="6" name="Group 5"/>
          <p:cNvGrpSpPr/>
          <p:nvPr/>
        </p:nvGrpSpPr>
        <p:grpSpPr>
          <a:xfrm>
            <a:off x="2987579" y="1275586"/>
            <a:ext cx="129393" cy="1440160"/>
            <a:chOff x="3424672" y="2643758"/>
            <a:chExt cx="283232" cy="1584176"/>
          </a:xfrm>
        </p:grpSpPr>
        <p:sp>
          <p:nvSpPr>
            <p:cNvPr id="7" name="Rectangle 6"/>
            <p:cNvSpPr/>
            <p:nvPr userDrawn="1"/>
          </p:nvSpPr>
          <p:spPr>
            <a:xfrm>
              <a:off x="3635896" y="2643758"/>
              <a:ext cx="72008" cy="1584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565490" y="2643758"/>
              <a:ext cx="72007" cy="15841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495081" y="2643758"/>
              <a:ext cx="72007" cy="15841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3424672" y="2643758"/>
              <a:ext cx="72008" cy="158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Picture 11" descr="ut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30" y="97648"/>
            <a:ext cx="775970" cy="77597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747897" y="162881"/>
            <a:ext cx="3529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UNIVERSITY OF TRANSPORT AND COMMUNICATION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3275330" y="2499360"/>
            <a:ext cx="4225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Giảng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:</a:t>
            </a:r>
            <a:r>
              <a:rPr lang="en-US" dirty="0"/>
              <a:t>    Lê </a:t>
            </a:r>
            <a:r>
              <a:rPr lang="en-US" dirty="0" err="1"/>
              <a:t>Ngọc</a:t>
            </a:r>
            <a:r>
              <a:rPr lang="en-US" dirty="0"/>
              <a:t> </a:t>
            </a:r>
            <a:r>
              <a:rPr lang="en-US" dirty="0" err="1"/>
              <a:t>Hiếu</a:t>
            </a:r>
            <a:endParaRPr lang="en-US" dirty="0"/>
          </a:p>
        </p:txBody>
      </p:sp>
      <p:sp>
        <p:nvSpPr>
          <p:cNvPr id="15" name="Text Box 14"/>
          <p:cNvSpPr txBox="1"/>
          <p:nvPr/>
        </p:nvSpPr>
        <p:spPr>
          <a:xfrm>
            <a:off x="4740910" y="2901950"/>
            <a:ext cx="23856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Võ Thị Diệu Thương Phạm Trọng Trường </a:t>
            </a:r>
          </a:p>
          <a:p>
            <a:r>
              <a:rPr lang="en-US"/>
              <a:t>Trần Quang Trường Nguyễn Anh Tuấn </a:t>
            </a:r>
          </a:p>
          <a:p>
            <a:r>
              <a:rPr lang="en-US"/>
              <a:t>Lê Thị Tường Vi </a:t>
            </a:r>
          </a:p>
          <a:p>
            <a:r>
              <a:rPr lang="en-US"/>
              <a:t>Phạm Huỳnh Hải Yến 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3275330" y="2901950"/>
            <a:ext cx="1465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Thành viên: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173595" y="2901950"/>
            <a:ext cx="1575435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- 5951071105</a:t>
            </a:r>
          </a:p>
          <a:p>
            <a:r>
              <a:rPr lang="en-US"/>
              <a:t>- 5951071113</a:t>
            </a:r>
          </a:p>
          <a:p>
            <a:r>
              <a:rPr lang="en-US"/>
              <a:t>- 5951071114</a:t>
            </a:r>
          </a:p>
          <a:p>
            <a:r>
              <a:rPr lang="en-US"/>
              <a:t>- 5951071117</a:t>
            </a:r>
          </a:p>
          <a:p>
            <a:r>
              <a:rPr lang="en-US"/>
              <a:t>- 5951071119</a:t>
            </a:r>
          </a:p>
          <a:p>
            <a:r>
              <a:rPr lang="en-US"/>
              <a:t>- 5951071125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2536" y="375052"/>
            <a:ext cx="6552728" cy="914400"/>
            <a:chOff x="1151472" y="3187501"/>
            <a:chExt cx="6552728" cy="914400"/>
          </a:xfrm>
        </p:grpSpPr>
        <p:sp>
          <p:nvSpPr>
            <p:cNvPr id="5" name="Pentagon 4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" name="Pentagon 5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Diamond 6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직사각형 39"/>
          <p:cNvSpPr/>
          <p:nvPr/>
        </p:nvSpPr>
        <p:spPr>
          <a:xfrm>
            <a:off x="2503723" y="570777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1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Box 10"/>
          <p:cNvSpPr txBox="1"/>
          <p:nvPr/>
        </p:nvSpPr>
        <p:spPr bwMode="auto">
          <a:xfrm>
            <a:off x="3379470" y="648335"/>
            <a:ext cx="475234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LÝ DO CHỌN ĐỀ TÀI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243783" y="1298079"/>
            <a:ext cx="6552728" cy="914400"/>
            <a:chOff x="1151472" y="3187501"/>
            <a:chExt cx="6552728" cy="914400"/>
          </a:xfrm>
        </p:grpSpPr>
        <p:sp>
          <p:nvSpPr>
            <p:cNvPr id="13" name="Pentagon 12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Pentagon 13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Diamond 14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40777" y="2221106"/>
            <a:ext cx="6552728" cy="914400"/>
            <a:chOff x="1151472" y="3187501"/>
            <a:chExt cx="6552728" cy="914400"/>
          </a:xfrm>
        </p:grpSpPr>
        <p:sp>
          <p:nvSpPr>
            <p:cNvPr id="17" name="Pentagon 16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Pentagon 17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Diamond 18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237771" y="3136513"/>
            <a:ext cx="6552728" cy="914400"/>
            <a:chOff x="1151472" y="3187501"/>
            <a:chExt cx="6552728" cy="914400"/>
          </a:xfrm>
        </p:grpSpPr>
        <p:sp>
          <p:nvSpPr>
            <p:cNvPr id="21" name="Pentagon 20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2" name="Pentagon 21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4" name="직사각형 39"/>
          <p:cNvSpPr/>
          <p:nvPr/>
        </p:nvSpPr>
        <p:spPr>
          <a:xfrm>
            <a:off x="2488483" y="1495299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2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26" name="TextBox 10"/>
          <p:cNvSpPr txBox="1"/>
          <p:nvPr/>
        </p:nvSpPr>
        <p:spPr bwMode="auto">
          <a:xfrm>
            <a:off x="3379470" y="1448500"/>
            <a:ext cx="4752340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GIỚI THIỆU YOUTUBE API VÀ ỨNG DỤNG WEB</a:t>
            </a:r>
          </a:p>
        </p:txBody>
      </p:sp>
      <p:sp>
        <p:nvSpPr>
          <p:cNvPr id="28" name="직사각형 39"/>
          <p:cNvSpPr/>
          <p:nvPr/>
        </p:nvSpPr>
        <p:spPr>
          <a:xfrm>
            <a:off x="2488483" y="2419821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3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0" name="TextBox 10"/>
          <p:cNvSpPr txBox="1"/>
          <p:nvPr/>
        </p:nvSpPr>
        <p:spPr bwMode="auto">
          <a:xfrm>
            <a:off x="3379470" y="2497455"/>
            <a:ext cx="475234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CÁC CÔNG NGHỆ SỬ DỤNG</a:t>
            </a:r>
          </a:p>
        </p:txBody>
      </p:sp>
      <p:sp>
        <p:nvSpPr>
          <p:cNvPr id="32" name="직사각형 39"/>
          <p:cNvSpPr/>
          <p:nvPr/>
        </p:nvSpPr>
        <p:spPr>
          <a:xfrm>
            <a:off x="2488483" y="3344343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4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4" name="TextBox 10"/>
          <p:cNvSpPr txBox="1"/>
          <p:nvPr/>
        </p:nvSpPr>
        <p:spPr bwMode="auto">
          <a:xfrm>
            <a:off x="3379470" y="3422015"/>
            <a:ext cx="475234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CÁC API SỬ DỤNG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237771" y="4050432"/>
            <a:ext cx="6552728" cy="914400"/>
            <a:chOff x="1151472" y="3187501"/>
            <a:chExt cx="6552728" cy="914400"/>
          </a:xfrm>
        </p:grpSpPr>
        <p:sp>
          <p:nvSpPr>
            <p:cNvPr id="29" name="Pentagon 28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Pentagon 30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Diamond 32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35" name="직사각형 39"/>
          <p:cNvSpPr/>
          <p:nvPr/>
        </p:nvSpPr>
        <p:spPr>
          <a:xfrm>
            <a:off x="2503723" y="4246782"/>
            <a:ext cx="403184" cy="52197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5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6" name="TextBox 10"/>
          <p:cNvSpPr txBox="1"/>
          <p:nvPr/>
        </p:nvSpPr>
        <p:spPr bwMode="auto">
          <a:xfrm>
            <a:off x="3379470" y="4323715"/>
            <a:ext cx="475234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DEMO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6" grpId="0"/>
      <p:bldP spid="30" grpId="0"/>
      <p:bldP spid="34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BFB39E4-07C9-4E7E-8828-D08C006409F4}"/>
              </a:ext>
            </a:extLst>
          </p:cNvPr>
          <p:cNvSpPr txBox="1"/>
          <p:nvPr/>
        </p:nvSpPr>
        <p:spPr>
          <a:xfrm>
            <a:off x="1763688" y="419349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1.LÝ DO CHỌN ĐỀ TÀI: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38F060E-1878-4C99-9497-F8986DF8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870" y="1449188"/>
            <a:ext cx="2813298" cy="281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4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35896" y="2126428"/>
            <a:ext cx="5363845" cy="890642"/>
          </a:xfrm>
        </p:spPr>
        <p:txBody>
          <a:bodyPr/>
          <a:lstStyle/>
          <a:p>
            <a:pPr>
              <a:defRPr/>
            </a:pPr>
            <a:r>
              <a:rPr lang="en-US" altLang="ko-KR" sz="3000" dirty="0">
                <a:sym typeface="+mn-ea"/>
              </a:rPr>
              <a:t>2.GIỚI THIỆU YOUTUBE API VÀ ỨNG DỤNG WEB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8E7366C-325C-4BA2-9086-AAB855383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65987"/>
            <a:ext cx="811525" cy="811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1"/>
          <p:cNvSpPr>
            <a:spLocks noGrp="1"/>
          </p:cNvSpPr>
          <p:nvPr/>
        </p:nvSpPr>
        <p:spPr>
          <a:xfrm>
            <a:off x="323528" y="267494"/>
            <a:ext cx="3599180" cy="3371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800" dirty="0">
                <a:solidFill>
                  <a:srgbClr val="FF0000"/>
                </a:solidFill>
                <a:sym typeface="+mn-ea"/>
              </a:rPr>
              <a:t>2.1.GIỚI THIỆU YOUTUBE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34A9225-0AC5-40A8-BEC8-FAC56F97661A}"/>
              </a:ext>
            </a:extLst>
          </p:cNvPr>
          <p:cNvSpPr txBox="1"/>
          <p:nvPr/>
        </p:nvSpPr>
        <p:spPr>
          <a:xfrm>
            <a:off x="971600" y="1275606"/>
            <a:ext cx="4482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err="1"/>
              <a:t>Youtube</a:t>
            </a:r>
            <a:r>
              <a:rPr lang="en-US" dirty="0"/>
              <a:t> API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2 </a:t>
            </a:r>
            <a:r>
              <a:rPr lang="en-US" dirty="0" err="1"/>
              <a:t>dạng</a:t>
            </a:r>
            <a:r>
              <a:rPr lang="en-US" dirty="0"/>
              <a:t>:</a:t>
            </a:r>
          </a:p>
          <a:p>
            <a:r>
              <a:rPr lang="en-US" dirty="0"/>
              <a:t>Data API </a:t>
            </a:r>
            <a:r>
              <a:rPr lang="en-US" dirty="0" err="1"/>
              <a:t>và</a:t>
            </a:r>
            <a:r>
              <a:rPr lang="en-US" dirty="0"/>
              <a:t> Player API: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4BF4E61-781B-4272-A5FF-BB3840395250}"/>
              </a:ext>
            </a:extLst>
          </p:cNvPr>
          <p:cNvSpPr txBox="1"/>
          <p:nvPr/>
        </p:nvSpPr>
        <p:spPr>
          <a:xfrm>
            <a:off x="1115616" y="2139702"/>
            <a:ext cx="6912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Data API: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website </a:t>
            </a:r>
            <a:r>
              <a:rPr lang="en-US" dirty="0" err="1"/>
              <a:t>Youtube</a:t>
            </a:r>
            <a:r>
              <a:rPr lang="en-US" dirty="0"/>
              <a:t>: Upload video, Search, Comment,..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ACA8493-EC97-4FA3-A0EA-BBD1E225B8AB}"/>
              </a:ext>
            </a:extLst>
          </p:cNvPr>
          <p:cNvSpPr txBox="1"/>
          <p:nvPr/>
        </p:nvSpPr>
        <p:spPr>
          <a:xfrm>
            <a:off x="1115616" y="3219822"/>
            <a:ext cx="7488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Player API: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nhúng</a:t>
            </a:r>
            <a:r>
              <a:rPr lang="en-US" dirty="0"/>
              <a:t> video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Play, Pause, Stop,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,…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web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Youtube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707904" y="2040897"/>
            <a:ext cx="5177155" cy="936615"/>
          </a:xfrm>
        </p:spPr>
        <p:txBody>
          <a:bodyPr/>
          <a:lstStyle/>
          <a:p>
            <a:pPr>
              <a:defRPr/>
            </a:pPr>
            <a:r>
              <a:rPr lang="en-US" altLang="ko-KR" sz="3400" dirty="0">
                <a:sym typeface="+mn-ea"/>
              </a:rPr>
              <a:t>2.2.GIỚI THIỆU ỨNG DỤNG WEB: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AF7C076-B2EB-4B47-BDF6-AD20AC6F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65987"/>
            <a:ext cx="811525" cy="81152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/>
        </p:nvSpPr>
        <p:spPr>
          <a:xfrm>
            <a:off x="143510" y="77470"/>
            <a:ext cx="3599180" cy="3371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800" dirty="0">
                <a:solidFill>
                  <a:srgbClr val="FF0000"/>
                </a:solidFill>
                <a:sym typeface="+mn-ea"/>
              </a:rPr>
              <a:t>2.2.GIỚI THIỆU ỨNG DỤNG</a:t>
            </a:r>
          </a:p>
        </p:txBody>
      </p:sp>
      <p:sp>
        <p:nvSpPr>
          <p:cNvPr id="3" name="Text Placeholder 1"/>
          <p:cNvSpPr>
            <a:spLocks noGrp="1"/>
          </p:cNvSpPr>
          <p:nvPr/>
        </p:nvSpPr>
        <p:spPr>
          <a:xfrm>
            <a:off x="143510" y="483870"/>
            <a:ext cx="3599180" cy="3371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800" dirty="0">
                <a:solidFill>
                  <a:srgbClr val="00B0F0"/>
                </a:solidFill>
                <a:sym typeface="+mn-ea"/>
              </a:rPr>
              <a:t>2.2.1.MÔ TẢ ỨNG DỤNG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99592" y="1923678"/>
            <a:ext cx="7560840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Trang </a:t>
            </a:r>
            <a:r>
              <a:rPr lang="en-US" dirty="0"/>
              <a:t>web </a:t>
            </a:r>
            <a:r>
              <a:rPr lang="en-US" err="1"/>
              <a:t>cho</a:t>
            </a:r>
            <a:r>
              <a:rPr lang="en-US"/>
              <a:t> phép người dùng có thể dụng để xem những video như Youtube. </a:t>
            </a:r>
          </a:p>
          <a:p>
            <a:endParaRPr lang="en-US"/>
          </a:p>
          <a:p>
            <a:r>
              <a:rPr lang="en-US"/>
              <a:t>Ngoài ra trang web thể hiện rõ ràng chi tiết hơn về lượt Like, Dislike và  số lượng View của Video để người dùng lựa chọn những video phù </a:t>
            </a:r>
          </a:p>
          <a:p>
            <a:r>
              <a:rPr lang="en-US"/>
              <a:t>hợp với mình.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/>
        </p:nvSpPr>
        <p:spPr>
          <a:xfrm>
            <a:off x="143510" y="77470"/>
            <a:ext cx="3599180" cy="3371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800" dirty="0">
                <a:solidFill>
                  <a:srgbClr val="FF0000"/>
                </a:solidFill>
                <a:sym typeface="+mn-ea"/>
              </a:rPr>
              <a:t>2.2.GIỚI THIỆU ỨNG DỤNG</a:t>
            </a:r>
          </a:p>
        </p:txBody>
      </p:sp>
      <p:sp>
        <p:nvSpPr>
          <p:cNvPr id="3" name="Text Placeholder 1"/>
          <p:cNvSpPr>
            <a:spLocks noGrp="1"/>
          </p:cNvSpPr>
          <p:nvPr/>
        </p:nvSpPr>
        <p:spPr>
          <a:xfrm>
            <a:off x="143510" y="483870"/>
            <a:ext cx="3599180" cy="3371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800" dirty="0">
                <a:solidFill>
                  <a:srgbClr val="00B0F0"/>
                </a:solidFill>
                <a:sym typeface="+mn-ea"/>
              </a:rPr>
              <a:t>2.2.2.GIAO DIỆN ỨNG DỤNG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8" y="821055"/>
            <a:ext cx="8922118" cy="405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187624" y="267494"/>
            <a:ext cx="6093961" cy="720080"/>
          </a:xfrm>
        </p:spPr>
        <p:txBody>
          <a:bodyPr/>
          <a:lstStyle/>
          <a:p>
            <a:pPr>
              <a:defRPr/>
            </a:pPr>
            <a:r>
              <a:rPr lang="en-US" altLang="ko-KR" sz="3000" dirty="0">
                <a:sym typeface="+mn-ea"/>
              </a:rPr>
              <a:t>3.CÁC CÔNG NGHỆ SỬ DỤNG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620F270-B8FA-4027-86CC-A6A0D461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65987"/>
            <a:ext cx="811525" cy="811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375265-C6BA-4A11-9E14-5C4FE6877BE2}"/>
              </a:ext>
            </a:extLst>
          </p:cNvPr>
          <p:cNvSpPr txBox="1"/>
          <p:nvPr/>
        </p:nvSpPr>
        <p:spPr>
          <a:xfrm>
            <a:off x="3275856" y="2355726"/>
            <a:ext cx="581255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1">
              <a:spcBef>
                <a:spcPts val="750"/>
              </a:spcBef>
              <a:spcAft>
                <a:spcPts val="0"/>
              </a:spcAft>
              <a:buSzPts val="1300"/>
              <a:tabLst>
                <a:tab pos="1247140" algn="l"/>
                <a:tab pos="1247775" algn="l"/>
              </a:tabLst>
            </a:pP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Sử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dụng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Youtube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API, HTML, CSS, JavaScript, </a:t>
            </a: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JQuery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.</a:t>
            </a:r>
          </a:p>
          <a:p>
            <a:pPr marR="0" lvl="1">
              <a:spcBef>
                <a:spcPts val="795"/>
              </a:spcBef>
              <a:spcAft>
                <a:spcPts val="0"/>
              </a:spcAft>
              <a:buSzPts val="1300"/>
              <a:tabLst>
                <a:tab pos="1247140" algn="l"/>
                <a:tab pos="1247775" algn="l"/>
              </a:tabLst>
            </a:pP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Sử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dụng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công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600" dirty="0" err="1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cụ</a:t>
            </a:r>
            <a:r>
              <a:rPr lang="en-US" sz="1600" dirty="0"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Visual Studio 2019.</a:t>
            </a:r>
          </a:p>
          <a:p>
            <a:pPr marR="0" lvl="1">
              <a:spcBef>
                <a:spcPts val="795"/>
              </a:spcBef>
              <a:spcAft>
                <a:spcPts val="0"/>
              </a:spcAft>
              <a:buSzPts val="1300"/>
              <a:tabLst>
                <a:tab pos="1247140" algn="l"/>
                <a:tab pos="1247775" algn="l"/>
              </a:tabLst>
            </a:pPr>
            <a:r>
              <a:rPr lang="en-US" sz="1600" dirty="0" err="1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Sử</a:t>
            </a:r>
            <a:r>
              <a:rPr lang="en-US" sz="1600" dirty="0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600" dirty="0" err="1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dụng</a:t>
            </a:r>
            <a:r>
              <a:rPr lang="en-US" sz="1600" dirty="0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Google Cloud Platform </a:t>
            </a:r>
            <a:r>
              <a:rPr lang="en-US" sz="1600" dirty="0" err="1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để</a:t>
            </a:r>
            <a:r>
              <a:rPr lang="en-US" sz="1600" dirty="0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600" dirty="0" err="1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lấy</a:t>
            </a:r>
            <a:r>
              <a:rPr lang="en-US" sz="1600" dirty="0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 API Key </a:t>
            </a:r>
            <a:r>
              <a:rPr lang="en-US" sz="1600" dirty="0" err="1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Youtube</a:t>
            </a:r>
            <a:r>
              <a:rPr lang="en-US" sz="1600" dirty="0">
                <a:latin typeface="+mj-lt"/>
                <a:ea typeface="Symbol" panose="05050102010706020507" pitchFamily="18" charset="2"/>
                <a:cs typeface="Symbol" panose="05050102010706020507" pitchFamily="18" charset="2"/>
              </a:rPr>
              <a:t>:</a:t>
            </a:r>
          </a:p>
          <a:p>
            <a:pPr marR="0" lvl="1">
              <a:spcBef>
                <a:spcPts val="795"/>
              </a:spcBef>
              <a:spcAft>
                <a:spcPts val="0"/>
              </a:spcAft>
              <a:buSzPts val="1300"/>
              <a:tabLst>
                <a:tab pos="1247140" algn="l"/>
                <a:tab pos="1247775" algn="l"/>
              </a:tabLst>
            </a:pPr>
            <a:r>
              <a:rPr lang="en-US" sz="1600" dirty="0">
                <a:solidFill>
                  <a:srgbClr val="0070C0"/>
                </a:solidFill>
                <a:effectLst/>
                <a:latin typeface="+mj-lt"/>
                <a:ea typeface="Symbol" panose="05050102010706020507" pitchFamily="18" charset="2"/>
                <a:cs typeface="Symbol" panose="05050102010706020507" pitchFamily="18" charset="2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https://console.cloud.google.com</a:t>
            </a:r>
            <a:endParaRPr lang="en-US" sz="1600" dirty="0">
              <a:solidFill>
                <a:srgbClr val="0070C0"/>
              </a:solidFill>
              <a:effectLst/>
              <a:latin typeface="+mj-lt"/>
              <a:ea typeface="Symbol" panose="05050102010706020507" pitchFamily="18" charset="2"/>
              <a:cs typeface="Symbol" panose="05050102010706020507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159735" y="195486"/>
            <a:ext cx="5176460" cy="818634"/>
          </a:xfrm>
        </p:spPr>
        <p:txBody>
          <a:bodyPr/>
          <a:lstStyle/>
          <a:p>
            <a:pPr>
              <a:defRPr/>
            </a:pPr>
            <a:r>
              <a:rPr lang="en-US" altLang="ko-KR">
                <a:sym typeface="+mn-ea"/>
              </a:rPr>
              <a:t>4.CÁC API SỬ DỤNG</a:t>
            </a:r>
            <a:endParaRPr lang="en-US" altLang="ko-KR" dirty="0">
              <a:sym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C6BDC65-C33B-435E-9889-E6D569DA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65987"/>
            <a:ext cx="811525" cy="811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88A85E-78F9-4F8D-BAC6-038290120225}"/>
              </a:ext>
            </a:extLst>
          </p:cNvPr>
          <p:cNvSpPr txBox="1"/>
          <p:nvPr/>
        </p:nvSpPr>
        <p:spPr>
          <a:xfrm>
            <a:off x="3759550" y="1640858"/>
            <a:ext cx="4712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Youtube</a:t>
            </a:r>
            <a:r>
              <a:rPr lang="en-US" dirty="0"/>
              <a:t> Data </a:t>
            </a:r>
            <a:r>
              <a:rPr lang="en-US"/>
              <a:t>API v3, Youtobe Analytics API</a:t>
            </a:r>
          </a:p>
          <a:p>
            <a:r>
              <a:rPr lang="en-US"/>
              <a:t>Youtobe Reporting API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BC6D81C-6CFE-4D62-AEE2-87AADD0E4F14}"/>
              </a:ext>
            </a:extLst>
          </p:cNvPr>
          <p:cNvSpPr txBox="1"/>
          <p:nvPr/>
        </p:nvSpPr>
        <p:spPr>
          <a:xfrm>
            <a:off x="3923239" y="2562013"/>
            <a:ext cx="503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dirty="0" err="1">
                <a:solidFill>
                  <a:srgbClr val="000000"/>
                </a:solidFill>
                <a:effectLst/>
                <a:latin typeface="Roboto"/>
              </a:rPr>
              <a:t>Youtube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Roboto"/>
              </a:rPr>
              <a:t> Data API v3 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Roboto"/>
              </a:rPr>
              <a:t>là một API cung cấp quyền truy cập vào dữ liệu YouTube, chẳng hạn như video, danh sách phát và kênh. 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115616" y="339502"/>
            <a:ext cx="4378325" cy="473710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sym typeface="+mn-ea"/>
              </a:rPr>
              <a:t>5.DEMO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FA8B8A-72FC-4AF3-B750-A711031A2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65987"/>
            <a:ext cx="811525" cy="811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03848" y="2330202"/>
            <a:ext cx="2736303" cy="576063"/>
          </a:xfrm>
        </p:spPr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8DFBB"/>
      </a:accent3>
      <a:accent4>
        <a:srgbClr val="9AD3E9"/>
      </a:accent4>
      <a:accent5>
        <a:srgbClr val="576868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AD3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346</Words>
  <Application>Microsoft Office PowerPoint</Application>
  <PresentationFormat>On-screen Show (16:9)</PresentationFormat>
  <Paragraphs>53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GMT</cp:lastModifiedBy>
  <cp:revision>230</cp:revision>
  <dcterms:created xsi:type="dcterms:W3CDTF">2016-12-05T23:26:00Z</dcterms:created>
  <dcterms:modified xsi:type="dcterms:W3CDTF">2021-03-28T13:06:47Z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1033-11.2.0.10017</vt:lpwstr>
  </property>
</Properties>
</file>